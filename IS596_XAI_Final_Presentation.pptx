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Mean Trust Score by Condition (1–5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Trust Score</c:v>
                </c:pt>
              </c:strCache>
            </c:strRef>
          </c:tx>
          <c:spPr>
            <a:solidFill>
              <a:srgbClr val="4A5E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68-A342-90EA-F69122DCDC87}"/>
              </c:ext>
            </c:extLst>
          </c:dPt>
          <c:dPt>
            <c:idx val="1"/>
            <c:invertIfNegative val="0"/>
            <c:bubble3D val="0"/>
            <c:spPr>
              <a:solidFill>
                <a:srgbClr val="D4A8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68-A342-90EA-F69122DCDC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Explanation</c:v>
                </c:pt>
                <c:pt idx="1">
                  <c:v>With Explanation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2.3199999999999998</c:v>
                </c:pt>
                <c:pt idx="1">
                  <c:v>4.2699999999999996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68-A342-90EA-F69122DCDC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Movie Selection Rate by Condition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Selection Rate (%)</c:v>
                </c:pt>
              </c:strCache>
            </c:strRef>
          </c:tx>
          <c:spPr>
            <a:solidFill>
              <a:srgbClr val="4A5E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9F-C340-B356-4D0A0137D831}"/>
              </c:ext>
            </c:extLst>
          </c:dPt>
          <c:dPt>
            <c:idx val="1"/>
            <c:invertIfNegative val="0"/>
            <c:bubble3D val="0"/>
            <c:spPr>
              <a:solidFill>
                <a:srgbClr val="D4A8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9F-C340-B356-4D0A0137D8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Explanation</c:v>
                </c:pt>
                <c:pt idx="1">
                  <c:v>With Explanation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35.799999999999997</c:v>
                </c:pt>
                <c:pt idx="1">
                  <c:v>90.8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9F-C340-B356-4D0A0137D8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 Score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459-594F-8B63-1B798A78A2F5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59-594F-8B63-1B798A78A2F5}"/>
              </c:ext>
            </c:extLst>
          </c:dPt>
          <c:dPt>
            <c:idx val="2"/>
            <c:invertIfNegative val="0"/>
            <c:bubble3D val="0"/>
            <c:spPr>
              <a:solidFill>
                <a:srgbClr val="4A5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59-594F-8B63-1B798A78A2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Similarity</c:v>
                </c:pt>
                <c:pt idx="1">
                  <c:v>Popularity</c:v>
                </c:pt>
                <c:pt idx="2">
                  <c:v>Rating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4.41</c:v>
                </c:pt>
                <c:pt idx="1">
                  <c:v>4.29</c:v>
                </c:pt>
                <c:pt idx="2">
                  <c:v>4.13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59-594F-8B63-1B798A78A2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999999999999996"/>
          <c:min val="3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Average Decision Time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Time (sec)</c:v>
                </c:pt>
              </c:strCache>
            </c:strRef>
          </c:tx>
          <c:spPr>
            <a:solidFill>
              <a:srgbClr val="4A5E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A3-D549-B572-14AA7FD031FA}"/>
              </c:ext>
            </c:extLst>
          </c:dPt>
          <c:dPt>
            <c:idx val="1"/>
            <c:invertIfNegative val="0"/>
            <c:bubble3D val="0"/>
            <c:spPr>
              <a:solidFill>
                <a:srgbClr val="D4A8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A3-D549-B572-14AA7FD031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Explanation</c:v>
                </c:pt>
                <c:pt idx="1">
                  <c:v>With Explanation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6.72</c:v>
                </c:pt>
                <c:pt idx="1">
                  <c:v>7.05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A3-D549-B572-14AA7FD031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70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583680" y="457200"/>
            <a:ext cx="1828800" cy="1828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858000" y="246888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365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596 | Designing Intelligent Systems | Group 02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02920" y="8229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Explanations Build Trust?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02920" y="2286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on Explainable AI Recommendations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3063240"/>
            <a:ext cx="5029200" cy="36576"/>
          </a:xfrm>
          <a:prstGeom prst="rect">
            <a:avLst/>
          </a:prstGeom>
          <a:solidFill>
            <a:srgbClr val="4A5E7A"/>
          </a:solidFill>
          <a:ln w="1270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Nishtha Joshi  ·  Siddhi Retharekar  ·  Vighnesh Gosavi  ·  Omkar Chalke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Illinois Urbana-Champaign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" cy="80467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969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Everywhere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increasingly shape everyday decisions — movies, shopping, healthcare, hiring.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01168" cy="80467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929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18541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often arrive without reasons, making them feel arbitrary and hard to evaluate.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01168" cy="80467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8895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14553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explanations, users cannot calibrate their trust. Overtrust and undertrust are both risks.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01168" cy="80467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849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ask: Do explanations actually change what users think AND what users do?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914400"/>
            <a:ext cx="301752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0" y="1097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35.8%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76072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selection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explanations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3017520"/>
            <a:ext cx="3017520" cy="192024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90.8%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576072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selection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explanations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170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44475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users report higher trust in AI recommendations when explanations are provided?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04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6791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presence of an explanation increase the likelihood that users select the AI-recommended item?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640080" cy="6400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6393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91363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different explanation types — rating-based, similarity-based, and popularity-based — differ in their effect on trust and selection?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 &amp; Theoretical Grounding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Ribeiro et al. (2016)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help users evaluate when a model may be wrong — calibrated trust, not blind trust.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74320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3008" y="10058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Ethics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12618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Lipton (2018)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93008" y="1481328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explanations, users lose ability to evaluate or challenge AI output — an ethical concern.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914400"/>
            <a:ext cx="274320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0058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Goals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12618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Tintarev &amp; Masthoff (2007)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19088" y="1481328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trust, transparency, effectiveness &amp; persuasiveness as key goals for recommender explanations.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74320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7889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Style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0449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Herlocker et al. (2000)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264408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style influences recommendation acceptance in collaborative filtering systems.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6974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83280" y="2697480"/>
            <a:ext cx="274320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93008" y="27889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≠ Behavior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93008" y="30449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Leichtmann et al. (2023)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93008" y="3264408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behavior don't always align in AI tasks — supports our choice to measure both.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6974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2697480"/>
            <a:ext cx="274320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19088" y="27889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Trust Scale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9088" y="30449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Hoffman et al. (2023)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19088" y="3264408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five-item Likert trust scale is directly adapted from this XAI measurement framework.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&amp;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78408" y="1481328"/>
            <a:ext cx="512064" cy="51206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39572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favorite movie,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range, mood,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valued aspects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377440"/>
            <a:ext cx="164592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76272" y="1371600"/>
            <a:ext cx="155448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97480" y="1481328"/>
            <a:ext cx="512064" cy="51206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67712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9424" y="239572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presents 6 recommendations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condition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30752" y="2377440"/>
            <a:ext cx="164592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95344" y="1371600"/>
            <a:ext cx="155448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16552" y="1481328"/>
            <a:ext cx="512064" cy="51206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16552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86784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68496" y="239572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condition: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with no reason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49824" y="2377440"/>
            <a:ext cx="164592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14416" y="1371600"/>
            <a:ext cx="155448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35624" y="1481328"/>
            <a:ext cx="512064" cy="51206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35624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05856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Explanation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239572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/ Similarity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shown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68896" y="2377440"/>
            <a:ext cx="164592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1371600"/>
            <a:ext cx="155448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54696" y="1481328"/>
            <a:ext cx="512064" cy="51206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54696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24928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395728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score, selection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decision time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Types: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06040" y="37033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0604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Rating-Based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7033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3720" y="37033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372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Popularity-Based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01168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014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28930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UIUC students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Within-subjects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01168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4780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6 movies (no explanation) then 6 movies (with explanation)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240 total interactions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201168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392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66674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No-explanation first to prevent contamination of baseline condition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420624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Measures &amp; Statistical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54864" cy="5943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764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5-item Likert scale (Hoffman et al., 2023)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 |  Cohen's d for effect size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240280"/>
            <a:ext cx="54864" cy="5943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(select / reject)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for paired binary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54864" cy="5943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27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automatically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for condition comparison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703320"/>
            <a:ext cx="54864" cy="5943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721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Type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959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test (trust)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(selection rates)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RQ1 — Effect of Explanations on Trust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686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822960"/>
          </a:xfrm>
          <a:prstGeom prst="rect">
            <a:avLst/>
          </a:prstGeom>
          <a:solidFill>
            <a:srgbClr val="4A5E7A"/>
          </a:solidFill>
          <a:ln w="12700">
            <a:solidFill>
              <a:srgbClr val="4A5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60720" y="950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3167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Trust (SD = 0.83)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920240"/>
            <a:ext cx="3017520" cy="8229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0" y="1956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23225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Trust (SD = 0.56)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926080"/>
            <a:ext cx="301752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9626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4.44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33284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— Very Large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931920"/>
            <a:ext cx="301752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3968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&lt; .001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760720" y="4334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t(19) = 19.39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participants showed increased trust — 100% directional consistency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RQ2 — Effect of Explanations on Selection Behavior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686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822960"/>
          </a:xfrm>
          <a:prstGeom prst="rect">
            <a:avLst/>
          </a:prstGeom>
          <a:solidFill>
            <a:srgbClr val="4A5E7A"/>
          </a:solidFill>
          <a:ln w="12700">
            <a:solidFill>
              <a:srgbClr val="4A5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60720" y="950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35.8%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3167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without explanations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 / 120 movies)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920240"/>
            <a:ext cx="3017520" cy="8229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0" y="1956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23225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with explanations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(109 / 120 movies)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926080"/>
            <a:ext cx="301752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9626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+55 pts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33284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 increase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selection rate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931920"/>
            <a:ext cx="301752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3968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= 34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760720" y="4334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— McNemar's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χ²(1) = 60.35, p &lt; .001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movies flipped from not-selected → selected  |  only 2 flipped the other way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RQ3 — Explanation Type Effects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93776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Explanation 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Trust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Selection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⭐ Similarity-Based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4.41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97.5%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Popularity-Based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4.29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90.0%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FA3"/>
                          </a:solidFill>
                        </a:rPr>
                        <a:t>#2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Rating-Based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4.13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85.0%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FA3"/>
                          </a:solidFill>
                        </a:rPr>
                        <a:t>#3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57200" y="3383280"/>
          <a:ext cx="521208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960120"/>
            <a:ext cx="2926080" cy="3931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98932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989320" y="1554480"/>
            <a:ext cx="329184" cy="32918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8932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0" y="152704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explanations performed best descriptively on trust &amp; selection</a:t>
            </a:r>
            <a:endParaRPr lang="en-US" sz="1000" dirty="0"/>
          </a:p>
        </p:txBody>
      </p:sp>
      <p:sp>
        <p:nvSpPr>
          <p:cNvPr id="4" name="Shape 7"/>
          <p:cNvSpPr/>
          <p:nvPr/>
        </p:nvSpPr>
        <p:spPr>
          <a:xfrm>
            <a:off x="5989320" y="2359152"/>
            <a:ext cx="329184" cy="32918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8932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0" y="233172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across types were NOT statistically significant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89320" y="3163824"/>
            <a:ext cx="329184" cy="32918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8932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313639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Friedman: χ²(2) = 2.91, p = .234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Chi-sq: χ²(2) = 3.80, p = .149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89320" y="3968496"/>
            <a:ext cx="329184" cy="329184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98932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0" y="394106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Partially supported — descriptive patterns hold but no statistical significance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Decision Time — No Added Cognitive Burden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686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97880" y="1463040"/>
            <a:ext cx="182880" cy="1828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7220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6.72 sec without explanations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1920240"/>
            <a:ext cx="182880" cy="1828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722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7.05 sec with explanations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2377440"/>
            <a:ext cx="182880" cy="1828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722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t(19) = 0.30, p = .769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significant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2834640"/>
            <a:ext cx="182880" cy="1828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722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participants were faster, 10 were slower — balanced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291840"/>
            <a:ext cx="182880" cy="18288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722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reduced uncertainty WITHOUT slowing users down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206240"/>
            <a:ext cx="5029200" cy="6858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improve trust AND behavior — without adding time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0058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↔ Behavior Alignment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Leichtmann et al. (2023), subjective trust and behavioral choice moved together in the same direction — useful in low-stakes domains.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051560"/>
            <a:ext cx="457200" cy="4572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68112" y="10058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Persuasive Explanations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5361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Rahman et al. (2025): explanations can directly shape user choices. XAI design carries real behavioral weight.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9260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Overtrust Concern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4564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 selection rate raises the question: are users too trusting? Explanations should help users calibrate trust — not maximize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29260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Explanations Win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4564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personal preferences ('matches your genre &amp; mood') is more meaningful than ratings or popularity — though not yet statistically significant.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618488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49047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convenience sample — 20 UIUC students may not generalize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35915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Low-stakes movie domain — behavior may differ in healthcare, finance, or hiring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3355848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322783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Metadata-based explanations — not a true black-box model; limits transparency claims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409651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condition order (no-explanation first) — possible order effects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64608" y="161848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149047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higher-stakes domains — healthcare, finance, education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64608" y="248716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235915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explanations help users detect poor recommendations, or simply persuade them to accept any?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64608" y="335584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322783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explanation systems that match explanation type to user context and uncertainty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023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64608" y="422452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64608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409651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samples to test generalizability across populations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0" y="804672"/>
            <a:ext cx="4572000" cy="4572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11480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0972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Trust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21408" y="10972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significantly increased mean trust from 2.32 → 4.27 (d = 4.44)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6048" y="10972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9088" y="10972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rate rose from 35.8% → 90.8% — explanations change what users choose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411480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21408" y="25603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increase in decision time — less uncertainty, not more burden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11480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4A5E7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56048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Types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088" y="25603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best descriptively; no significant difference across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Well-designed explanations do more than make users feel better — they change what users choose.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3749040" y="3657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48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401568"/>
            <a:ext cx="4572000" cy="36576"/>
          </a:xfrm>
          <a:prstGeom prst="rect">
            <a:avLst/>
          </a:prstGeom>
          <a:solidFill>
            <a:srgbClr val="4A5E7A"/>
          </a:solidFill>
          <a:ln w="1270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Nishtha Joshi  ·  Siddhi Retharekar  ·  Vighnesh Gosavi  ·  Omkar Chalke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596 — Designing Intelligent Systems  |  Group 02  |  UIUC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1128</Words>
  <Application>Microsoft Macintosh PowerPoint</Application>
  <PresentationFormat>On-screen Show (16:9)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Explanations Build Trust? – IS596 Final Presentation</dc:title>
  <dc:subject>PptxGenJS Presentation</dc:subject>
  <dc:creator>PptxGenJS</dc:creator>
  <cp:lastModifiedBy>Retharekar, Siddhi Vishwanath</cp:lastModifiedBy>
  <cp:revision>2</cp:revision>
  <dcterms:created xsi:type="dcterms:W3CDTF">2026-05-04T03:52:33Z</dcterms:created>
  <dcterms:modified xsi:type="dcterms:W3CDTF">2026-05-04T04:15:20Z</dcterms:modified>
</cp:coreProperties>
</file>